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66" r:id="rId5"/>
    <p:sldId id="267" r:id="rId6"/>
    <p:sldId id="268" r:id="rId7"/>
    <p:sldId id="269" r:id="rId8"/>
    <p:sldId id="271" r:id="rId9"/>
    <p:sldId id="270" r:id="rId10"/>
    <p:sldId id="273" r:id="rId11"/>
    <p:sldId id="272" r:id="rId12"/>
    <p:sldId id="275" r:id="rId13"/>
    <p:sldId id="276" r:id="rId14"/>
    <p:sldId id="274" r:id="rId15"/>
    <p:sldId id="277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72"/>
  </p:normalViewPr>
  <p:slideViewPr>
    <p:cSldViewPr snapToGrid="0">
      <p:cViewPr varScale="1">
        <p:scale>
          <a:sx n="134" d="100"/>
          <a:sy n="134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28D2D-B17A-BF46-9B44-5E2570E9BA7A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1ED193-520B-F941-8F81-8DE0B0570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7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ED193-520B-F941-8F81-8DE0B05708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0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C221-44AB-B118-BAE3-409FBEE58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90E19-B545-71D3-6F8D-A4468615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360AB-F156-CDF7-C2D9-DDFFE640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C321-4463-407C-DFB4-6CA5CC3C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3D4C-4B3B-4835-5D60-83E13EF5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8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3DCD-1CC5-6C7D-C744-200017A3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D72B7-0ED0-4215-DA31-0B4DFA732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E8B59-9D5F-C271-226E-AC76D8F7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A92D-2158-048D-B7B0-26DF229A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02A99-2FC8-54B8-F423-F141E8B2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B29C-2D6A-EF76-3F13-25783A84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8E0DD-CC01-4B88-B3A8-4AD3BA45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0C036-103A-29A6-F3D9-27EE1FBF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DE07D-C667-2AE9-019D-8CB0E5D6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928A-3AF0-9631-3843-08290874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5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EBCC-30C3-2929-2138-6A5E5D1D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3D91-F79A-0A4C-4C1C-BD030EA00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9ABA5-3E6B-146C-D8D8-C4FA8271F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F740-1E1F-9CB6-4D2D-DE258266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0F361-0146-D764-F903-42C91111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36C6B-1C56-EAF1-2BF2-E355E9A1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7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2FE9-5D11-CF20-5B6A-60B01F1E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B39E-ACF5-2161-5F81-D1985F421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24D27-83B4-5EA1-7BC7-64055D047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CA57-7154-F89F-30D7-3386C6EA7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360C3-50AF-17FA-0274-71A47A337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296A3-9F95-847D-1066-3AA9727E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1111-4175-81E0-6E81-CA90A6A1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F9CB2-97AF-46BC-CF5E-3CFFEA03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6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F59C-324E-5346-5366-381EDBD1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2F0D0-FF92-8EB5-1DD6-EB0EE9A1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E3D8F-2EF2-548E-87EA-3ADB0A6B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4F5A4-93D9-8B04-486E-1E3166B1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4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BDCA8-BE7D-682F-05C9-B620683D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00ADA-7EDA-50CB-5543-AB00CC22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CCC1B-12CA-E388-B083-3F8D6420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8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4412-8C5F-6253-4AA5-4459BC1F4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3BCE5-79CB-6897-61F8-1FC519FA3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56123-F51A-3BAD-3E96-8D51FC66B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D450-AD6F-B7BC-F019-8BE42CE1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CFDED-CAEC-9197-9AB2-A99F3530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79828-ACA5-CFBD-CEA5-CB925AF2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2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74BF-7F51-419C-422D-2B3AFF59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6709D0-A44B-EFE3-8AD3-4A604F46A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D781E-7B27-4339-24A9-9561E98C8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D2747-57DC-EAFC-11A3-730F581A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2A1FF-1FD9-2669-AA73-7FB525A6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B5096-836E-22EF-BF0A-5FA7FD27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7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E778-A9AA-A574-6B3B-DDE861A9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FC2A9-7B13-4530-BF1E-609785E68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2378-2972-9FCE-A864-A6724D68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1D4EB-7403-747E-785F-D57CDC6B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22CDB-39A9-7FDF-7CFF-535088F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6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AA8834-A079-7D7E-6A56-C79E4000E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04F27-8B40-8820-E893-8E042A184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9079C-5DA1-A6AE-7037-F704C578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96BFA-3641-AAAA-8A9A-25080EAB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35550-7AC0-37A5-451B-07AAAA84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F9796-A343-CB1F-BE13-94812339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DE368-EBCA-1BF2-A43C-BFD2AD2E0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16AB1-E098-FDC9-7EEC-2B0FC8812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51243-10E7-1543-9BB6-FF008275424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D57B1-2985-67B6-0942-5B469ECCD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CD42F-A4A5-A3FB-FB4A-BB8FDE393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EE179-6DC2-2D49-896D-4AA611FC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mitsharma2705/osod-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Vision Guided AI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4728" y="3602038"/>
            <a:ext cx="8233272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Presenter : Amit Sharma</a:t>
            </a:r>
          </a:p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Program: Executive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M.Tech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AI &amp; ML</a:t>
            </a:r>
          </a:p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Guide: Dr.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Harkeerat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5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657856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Objective/Vision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39027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500" dirty="0"/>
              <a:t>AI and Computer Vision enable perception-driven automation.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500" dirty="0"/>
              <a:t>Need for </a:t>
            </a:r>
            <a:r>
              <a:rPr lang="en-IN" sz="1500" b="1" dirty="0"/>
              <a:t>adaptive visual systems</a:t>
            </a:r>
            <a:r>
              <a:rPr lang="en-IN" sz="1500" dirty="0"/>
              <a:t> that can perceive, understand, and act in complex industrial settings.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500" dirty="0"/>
              <a:t>Ambition: Build a </a:t>
            </a:r>
            <a:r>
              <a:rPr lang="en-IN" sz="1500" b="1" dirty="0"/>
              <a:t>general-purpose visual AI system</a:t>
            </a:r>
            <a:r>
              <a:rPr lang="en-IN" sz="1500" dirty="0"/>
              <a:t> applicable to forklifts, robotic arms, and AGVs.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500" dirty="0"/>
              <a:t>Long-Term Vision: General-purpose perception-to-action framework adaptable to any robotic or industrial automation platform.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500" dirty="0"/>
              <a:t>Vision Guided  in Robotics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500" dirty="0"/>
              <a:t>Content generation  - Open Areas.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500" dirty="0"/>
          </a:p>
          <a:p>
            <a:pPr algn="l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3077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2"/>
            <a:ext cx="9144000" cy="988361"/>
          </a:xfrm>
        </p:spPr>
        <p:txBody>
          <a:bodyPr>
            <a:normAutofit fontScale="90000"/>
          </a:bodyPr>
          <a:lstStyle/>
          <a:p>
            <a:pPr algn="l"/>
            <a:b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Base Paper - Sarkar et al. (2024) — Open-Set Object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algn="l" fontAlgn="t"/>
            <a:r>
              <a:rPr lang="en-IN" sz="1600" b="1" i="0" dirty="0">
                <a:effectLst/>
              </a:rPr>
              <a:t>Project Goal</a:t>
            </a:r>
            <a:br>
              <a:rPr lang="en-IN" sz="1600" b="1" i="0" dirty="0">
                <a:effectLst/>
              </a:rPr>
            </a:br>
            <a:endParaRPr lang="en-IN" sz="1600" b="1" i="0" dirty="0">
              <a:effectLst/>
            </a:endParaRP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Deliver a </a:t>
            </a:r>
            <a:r>
              <a:rPr lang="en-IN" sz="1400" b="1" i="0" dirty="0">
                <a:effectLst/>
              </a:rPr>
              <a:t>faithful, paper‑accurate implementation</a:t>
            </a:r>
            <a:r>
              <a:rPr lang="en-IN" sz="1400" b="0" i="0" dirty="0">
                <a:effectLst/>
              </a:rPr>
              <a:t> of</a:t>
            </a:r>
            <a:br>
              <a:rPr lang="en-IN" sz="1400" b="0" i="0" dirty="0">
                <a:effectLst/>
              </a:rPr>
            </a:br>
            <a:r>
              <a:rPr lang="en-IN" sz="1400" b="0" i="1" dirty="0">
                <a:effectLst/>
              </a:rPr>
              <a:t>“Open‑Set Object Detection by Aligning Known Class Representations” (WACV 2024)</a:t>
            </a:r>
            <a:endParaRPr lang="en-IN" sz="1400" b="0" i="0" dirty="0">
              <a:effectLst/>
            </a:endParaRP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Systematically </a:t>
            </a:r>
            <a:r>
              <a:rPr lang="en-IN" sz="1400" b="1" i="0" dirty="0">
                <a:effectLst/>
              </a:rPr>
              <a:t>identify gaps</a:t>
            </a:r>
            <a:r>
              <a:rPr lang="en-IN" sz="1400" b="0" i="0" dirty="0">
                <a:effectLst/>
              </a:rPr>
              <a:t> between the current implementation and the paper’s methodology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Define a </a:t>
            </a:r>
            <a:r>
              <a:rPr lang="en-IN" sz="1400" b="1" i="0" dirty="0">
                <a:effectLst/>
              </a:rPr>
              <a:t>clear roadmap</a:t>
            </a:r>
            <a:r>
              <a:rPr lang="en-IN" sz="1400" b="0" i="0" dirty="0">
                <a:effectLst/>
              </a:rPr>
              <a:t> to reach paper‑level performance, evaluation rigor, and architectural completeness</a:t>
            </a:r>
          </a:p>
          <a:p>
            <a:pPr algn="l" fontAlgn="t"/>
            <a:endParaRPr lang="en-IN" sz="1600" b="1" i="0" dirty="0">
              <a:effectLst/>
            </a:endParaRPr>
          </a:p>
          <a:p>
            <a:pPr algn="l" fontAlgn="t"/>
            <a:r>
              <a:rPr lang="en-IN" sz="1600" b="1" i="0" dirty="0">
                <a:effectLst/>
              </a:rPr>
              <a:t>Problem &amp; Motivation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Conventional </a:t>
            </a:r>
            <a:r>
              <a:rPr lang="en-IN" sz="1400" b="1" i="0" dirty="0">
                <a:effectLst/>
              </a:rPr>
              <a:t>closed‑set detectors fail on unseen objects</a:t>
            </a:r>
            <a:r>
              <a:rPr lang="en-IN" sz="1400" b="0" i="0" dirty="0">
                <a:effectLst/>
              </a:rPr>
              <a:t>, often producing </a:t>
            </a:r>
            <a:r>
              <a:rPr lang="en-IN" sz="1400" b="1" i="0" dirty="0">
                <a:effectLst/>
              </a:rPr>
              <a:t>high‑confidence misclassifications</a:t>
            </a:r>
            <a:r>
              <a:rPr lang="en-IN" sz="1400" b="0" i="0" dirty="0">
                <a:effectLst/>
              </a:rPr>
              <a:t> </a:t>
            </a:r>
          </a:p>
          <a:p>
            <a:pPr marL="1200150" lvl="2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e.g., </a:t>
            </a:r>
            <a:r>
              <a:rPr lang="en-IN" sz="1400" b="0" i="1" dirty="0">
                <a:effectLst/>
              </a:rPr>
              <a:t>zebra predicted as horse</a:t>
            </a:r>
            <a:r>
              <a:rPr lang="en-IN" sz="1400" b="0" i="0" dirty="0">
                <a:effectLst/>
              </a:rPr>
              <a:t> due to semantic similarity</a:t>
            </a:r>
          </a:p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 zebra standing in a grassy area&#10;&#10;Description automatically generated">
            <a:extLst>
              <a:ext uri="{FF2B5EF4-FFF2-40B4-BE49-F238E27FC236}">
                <a16:creationId xmlns:a16="http://schemas.microsoft.com/office/drawing/2014/main" id="{47073342-3891-9FB8-137B-C1FA973F5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355" y="4255169"/>
            <a:ext cx="35179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2"/>
            <a:ext cx="9144000" cy="988361"/>
          </a:xfrm>
        </p:spPr>
        <p:txBody>
          <a:bodyPr>
            <a:normAutofit fontScale="90000"/>
          </a:bodyPr>
          <a:lstStyle/>
          <a:p>
            <a:pPr algn="l"/>
            <a:b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Base Paper - Sarkar et al. (2024) — Open-Set Object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500" b="1" i="0" dirty="0">
                <a:effectLst/>
              </a:rPr>
              <a:t>RPN </a:t>
            </a:r>
            <a:r>
              <a:rPr lang="en-IN" sz="1500" b="1" i="0" dirty="0" err="1">
                <a:effectLst/>
              </a:rPr>
              <a:t>objectness</a:t>
            </a:r>
            <a:r>
              <a:rPr lang="en-IN" sz="1500" b="1" i="0" dirty="0">
                <a:effectLst/>
              </a:rPr>
              <a:t> overfits</a:t>
            </a:r>
            <a:r>
              <a:rPr lang="en-IN" sz="1500" b="0" i="0" dirty="0">
                <a:effectLst/>
              </a:rPr>
              <a:t> to known training categories </a:t>
            </a:r>
          </a:p>
          <a:p>
            <a:pPr marL="1085850" lvl="2" indent="-171450" algn="l" fontAlgn="t">
              <a:buFont typeface="Arial" panose="020B0604020202020204" pitchFamily="34" charset="0"/>
              <a:buChar char="•"/>
            </a:pPr>
            <a:r>
              <a:rPr lang="en-IN" sz="1400" dirty="0"/>
              <a:t>L</a:t>
            </a:r>
            <a:r>
              <a:rPr lang="en-IN" sz="1400" b="0" i="0" dirty="0">
                <a:effectLst/>
              </a:rPr>
              <a:t>imited generalization </a:t>
            </a:r>
          </a:p>
          <a:p>
            <a:pPr marL="1085850" lvl="2" indent="-1714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Leads to </a:t>
            </a:r>
            <a:r>
              <a:rPr lang="en-IN" sz="1400" b="1" i="0" dirty="0">
                <a:effectLst/>
              </a:rPr>
              <a:t>poor proposal quality</a:t>
            </a:r>
            <a:r>
              <a:rPr lang="en-IN" sz="1400" b="0" i="0" dirty="0">
                <a:effectLst/>
              </a:rPr>
              <a:t> for unknown objects</a:t>
            </a:r>
          </a:p>
          <a:p>
            <a:pPr marL="1085850" lvl="2" indent="-1714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Such failures pose risks in </a:t>
            </a:r>
            <a:r>
              <a:rPr lang="en-IN" sz="1400" b="1" i="0" dirty="0">
                <a:effectLst/>
              </a:rPr>
              <a:t>real‑world systems</a:t>
            </a:r>
            <a:r>
              <a:rPr lang="en-IN" sz="1400" b="0" i="0" dirty="0">
                <a:effectLst/>
              </a:rPr>
              <a:t> (autonomous platforms, robotics, retail analytics), where incorrect decisions can be unsafe</a:t>
            </a:r>
          </a:p>
          <a:p>
            <a:pPr lvl="1" algn="l" fontAlgn="t"/>
            <a:endParaRPr lang="en-IN" sz="1400" b="0" i="0" dirty="0">
              <a:effectLst/>
            </a:endParaRP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500" b="0" i="0" dirty="0">
                <a:effectLst/>
              </a:rPr>
              <a:t>A robust OSOD system must: </a:t>
            </a:r>
          </a:p>
          <a:p>
            <a:pPr marL="1200150" lvl="2" indent="-285750" algn="l" fontAlgn="t">
              <a:buFont typeface="Arial" panose="020B0604020202020204" pitchFamily="34" charset="0"/>
              <a:buChar char="•"/>
            </a:pPr>
            <a:r>
              <a:rPr lang="en-IN" sz="1400" b="1" i="0" dirty="0">
                <a:effectLst/>
              </a:rPr>
              <a:t>Accurately recognize known classes</a:t>
            </a:r>
            <a:r>
              <a:rPr lang="en-IN" sz="1400" b="0" i="0" dirty="0">
                <a:effectLst/>
              </a:rPr>
              <a:t>, and</a:t>
            </a:r>
          </a:p>
          <a:p>
            <a:pPr marL="1200150" lvl="2" indent="-285750" algn="l" fontAlgn="t">
              <a:buFont typeface="Arial" panose="020B0604020202020204" pitchFamily="34" charset="0"/>
              <a:buChar char="•"/>
            </a:pPr>
            <a:r>
              <a:rPr lang="en-IN" sz="1400" b="1" i="0" dirty="0">
                <a:effectLst/>
              </a:rPr>
              <a:t>Flag unfamiliar objects as “unknown”</a:t>
            </a:r>
            <a:r>
              <a:rPr lang="en-IN" sz="1400" b="0" i="0" dirty="0">
                <a:effectLst/>
              </a:rPr>
              <a:t> with minimal false confidence to ensure safety and reliability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7" name="Picture 6" descr="A zebras standing in grass&#10;&#10;Description automatically generated">
            <a:extLst>
              <a:ext uri="{FF2B5EF4-FFF2-40B4-BE49-F238E27FC236}">
                <a16:creationId xmlns:a16="http://schemas.microsoft.com/office/drawing/2014/main" id="{9D682617-B3E9-6D51-BF46-1E3F51D82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137" y="4291012"/>
            <a:ext cx="36576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6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Paper Contributions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algn="l" fontAlgn="t"/>
            <a:r>
              <a:rPr lang="en-IN" sz="1500" b="1" i="0" dirty="0">
                <a:effectLst/>
              </a:rPr>
              <a:t>Semantic Clustering (SC)</a:t>
            </a: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Aligns ROI image features with CLIP text embeddings to create </a:t>
            </a:r>
            <a:r>
              <a:rPr lang="en-IN" sz="1400" b="1" i="0" dirty="0">
                <a:effectLst/>
              </a:rPr>
              <a:t>clear semantic decision boundaries</a:t>
            </a:r>
            <a:r>
              <a:rPr lang="en-IN" sz="1400" b="0" i="0" dirty="0">
                <a:effectLst/>
              </a:rPr>
              <a:t>, reducing confusion among semantically similar classes. </a:t>
            </a:r>
            <a:endParaRPr lang="en-US" sz="1400" dirty="0"/>
          </a:p>
          <a:p>
            <a:pPr algn="l"/>
            <a:endParaRPr lang="en-US" sz="1400" dirty="0"/>
          </a:p>
          <a:p>
            <a:pPr algn="l" fontAlgn="t"/>
            <a:r>
              <a:rPr lang="en-IN" sz="1500" b="1" i="0" dirty="0">
                <a:effectLst/>
              </a:rPr>
              <a:t>Class Decorrelation (CD</a:t>
            </a:r>
            <a:r>
              <a:rPr lang="en-IN" sz="1400" b="1" i="0" dirty="0">
                <a:effectLst/>
              </a:rPr>
              <a:t>)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Applies </a:t>
            </a:r>
            <a:r>
              <a:rPr lang="en-IN" sz="1400" b="1" i="0" dirty="0">
                <a:effectLst/>
              </a:rPr>
              <a:t>orthogonality constraints</a:t>
            </a:r>
            <a:r>
              <a:rPr lang="en-IN" sz="1400" b="0" i="0" dirty="0">
                <a:effectLst/>
              </a:rPr>
              <a:t> on sampled class‑specific features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Enforces </a:t>
            </a:r>
            <a:r>
              <a:rPr lang="en-IN" sz="1400" b="1" i="0" dirty="0">
                <a:effectLst/>
              </a:rPr>
              <a:t>low inter‑class correlation</a:t>
            </a:r>
            <a:r>
              <a:rPr lang="en-IN" sz="1400" b="0" i="0" dirty="0">
                <a:effectLst/>
              </a:rPr>
              <a:t>, enlarging separation between known class clusters</a:t>
            </a:r>
          </a:p>
          <a:p>
            <a:pPr algn="l"/>
            <a:endParaRPr lang="en-US" sz="1400" dirty="0"/>
          </a:p>
          <a:p>
            <a:pPr algn="l" fontAlgn="t"/>
            <a:r>
              <a:rPr lang="en-IN" sz="1500" b="1" i="0" dirty="0">
                <a:effectLst/>
              </a:rPr>
              <a:t>Object Focus (OF) Loss</a:t>
            </a: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Combines </a:t>
            </a:r>
            <a:r>
              <a:rPr lang="en-IN" sz="1400" b="1" i="0" dirty="0" err="1">
                <a:effectLst/>
              </a:rPr>
              <a:t>centerness</a:t>
            </a:r>
            <a:r>
              <a:rPr lang="en-IN" sz="1400" b="0" i="0" dirty="0">
                <a:effectLst/>
              </a:rPr>
              <a:t> and </a:t>
            </a:r>
            <a:r>
              <a:rPr lang="en-IN" sz="1400" b="1" i="0" dirty="0">
                <a:effectLst/>
              </a:rPr>
              <a:t>classification‑based </a:t>
            </a:r>
            <a:r>
              <a:rPr lang="en-IN" sz="1400" b="1" i="0" dirty="0" err="1">
                <a:effectLst/>
              </a:rPr>
              <a:t>objectness</a:t>
            </a:r>
            <a:r>
              <a:rPr lang="en-IN" sz="1400" b="0" i="0" dirty="0">
                <a:effectLst/>
              </a:rPr>
              <a:t> into a unified loss</a:t>
            </a: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Uses a </a:t>
            </a:r>
            <a:r>
              <a:rPr lang="en-IN" sz="1400" b="1" i="0" dirty="0">
                <a:effectLst/>
              </a:rPr>
              <a:t>geometric mean</a:t>
            </a:r>
            <a:r>
              <a:rPr lang="en-IN" sz="1400" b="0" i="0" dirty="0">
                <a:effectLst/>
              </a:rPr>
              <a:t> formulation to strengthen </a:t>
            </a:r>
            <a:r>
              <a:rPr lang="en-IN" sz="1400" b="0" i="0" dirty="0" err="1">
                <a:effectLst/>
              </a:rPr>
              <a:t>objectness</a:t>
            </a:r>
            <a:r>
              <a:rPr lang="en-IN" sz="1400" b="0" i="0" dirty="0">
                <a:effectLst/>
              </a:rPr>
              <a:t> learning</a:t>
            </a: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Produces </a:t>
            </a:r>
            <a:r>
              <a:rPr lang="en-IN" sz="1400" b="1" i="0" dirty="0">
                <a:effectLst/>
              </a:rPr>
              <a:t>more robust proposals</a:t>
            </a:r>
            <a:r>
              <a:rPr lang="en-IN" sz="1400" b="0" i="0" dirty="0">
                <a:effectLst/>
              </a:rPr>
              <a:t>, especially for unknown objects</a:t>
            </a:r>
          </a:p>
          <a:p>
            <a:pPr algn="l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7530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Paper Contributions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7" name="Picture 6" descr="A diagram of a cat and dog&#10;&#10;Description automatically generated">
            <a:extLst>
              <a:ext uri="{FF2B5EF4-FFF2-40B4-BE49-F238E27FC236}">
                <a16:creationId xmlns:a16="http://schemas.microsoft.com/office/drawing/2014/main" id="{C024DBA4-8327-BA64-EB4C-3AE665834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55074"/>
            <a:ext cx="6597650" cy="485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78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Architecture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1" name="Picture 10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6E36AC8B-6A2D-EF70-9BA7-DC3CCBF7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941" y="3049587"/>
            <a:ext cx="7734300" cy="34417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8220419" cy="2679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 Base detector: </a:t>
            </a:r>
            <a:r>
              <a:rPr lang="en-IN" sz="1400" b="1" i="0" dirty="0">
                <a:effectLst/>
              </a:rPr>
              <a:t>Faster R–CNN</a:t>
            </a:r>
            <a:r>
              <a:rPr lang="en-IN" sz="1400" b="0" i="0" dirty="0">
                <a:effectLst/>
              </a:rPr>
              <a:t> 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Added components: </a:t>
            </a: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1×1 conv head for </a:t>
            </a:r>
            <a:r>
              <a:rPr lang="en-IN" sz="1400" b="1" i="0" dirty="0" err="1">
                <a:effectLst/>
              </a:rPr>
              <a:t>centerness</a:t>
            </a:r>
            <a:r>
              <a:rPr lang="en-IN" sz="1400" b="1" i="0" dirty="0">
                <a:effectLst/>
              </a:rPr>
              <a:t> + </a:t>
            </a:r>
            <a:r>
              <a:rPr lang="en-IN" sz="1400" b="1" i="0" dirty="0" err="1">
                <a:effectLst/>
              </a:rPr>
              <a:t>objectness</a:t>
            </a:r>
            <a:endParaRPr lang="en-IN" sz="1400" b="0" i="0" dirty="0">
              <a:effectLst/>
            </a:endParaRP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ROI → MLP → </a:t>
            </a:r>
            <a:r>
              <a:rPr lang="en-IN" sz="1400" b="1" i="0" dirty="0">
                <a:effectLst/>
              </a:rPr>
              <a:t>1024‑D features</a:t>
            </a:r>
            <a:endParaRPr lang="en-IN" sz="1400" b="0" i="0" dirty="0">
              <a:effectLst/>
            </a:endParaRPr>
          </a:p>
          <a:p>
            <a:pPr marL="742950" lvl="1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CLIP encoder → </a:t>
            </a:r>
            <a:r>
              <a:rPr lang="en-IN" sz="1400" b="1" i="0" dirty="0">
                <a:effectLst/>
              </a:rPr>
              <a:t>1024‑D text embeddings</a:t>
            </a:r>
            <a:r>
              <a:rPr lang="en-IN" sz="1400" b="0" i="0" dirty="0">
                <a:effectLst/>
              </a:rPr>
              <a:t> (class names as prompts)</a:t>
            </a:r>
          </a:p>
          <a:p>
            <a:pPr algn="l" fontAlgn="t"/>
            <a:r>
              <a:rPr lang="en-IN" sz="1400" b="0" i="0" dirty="0">
                <a:effectLst/>
              </a:rPr>
              <a:t>Alignment: ROI feature vectors ↔ CLIP text vectors</a:t>
            </a:r>
          </a:p>
        </p:txBody>
      </p:sp>
    </p:spTree>
    <p:extLst>
      <p:ext uri="{BB962C8B-B14F-4D97-AF65-F5344CB8AC3E}">
        <p14:creationId xmlns:p14="http://schemas.microsoft.com/office/powerpoint/2010/main" val="426382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Key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t"/>
            <a:r>
              <a:rPr lang="en-IN" sz="1500" b="1" i="0" dirty="0">
                <a:effectLst/>
              </a:rPr>
              <a:t>Semantic Clustering (SC)</a:t>
            </a:r>
          </a:p>
          <a:p>
            <a:pPr algn="l" fontAlgn="t"/>
            <a:endParaRPr lang="en-IN" sz="1400" b="1" i="0" dirty="0">
              <a:effectLst/>
            </a:endParaRP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Align ROI features with CLIP text embeddings to form semantic decision boundaries.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dirty="0"/>
              <a:t>Cosine Similarity between ROI and feature Fi and class embedding </a:t>
            </a:r>
            <a:r>
              <a:rPr lang="en-IN" sz="1400" dirty="0" err="1"/>
              <a:t>Tj</a:t>
            </a:r>
            <a:r>
              <a:rPr lang="en-IN" sz="1400" dirty="0"/>
              <a:t>.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dirty="0"/>
              <a:t>Semantic clustering loss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Effect: Pulls features toward the correct class cluster → reduces confusion between semantically close classes.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algn="l" fontAlgn="t"/>
            <a:endParaRPr lang="en-IN" sz="1400" b="0" i="0" dirty="0">
              <a:effectLst/>
            </a:endParaRPr>
          </a:p>
        </p:txBody>
      </p:sp>
      <p:pic>
        <p:nvPicPr>
          <p:cNvPr id="10" name="Picture 9" descr="A mathematical equation with a few lines&#10;&#10;Description automatically generated with medium confidence">
            <a:extLst>
              <a:ext uri="{FF2B5EF4-FFF2-40B4-BE49-F238E27FC236}">
                <a16:creationId xmlns:a16="http://schemas.microsoft.com/office/drawing/2014/main" id="{70483933-BA9E-CBC1-0BC5-14791D7B8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329" y="2996197"/>
            <a:ext cx="3086100" cy="1130300"/>
          </a:xfrm>
          <a:prstGeom prst="rect">
            <a:avLst/>
          </a:prstGeom>
        </p:spPr>
      </p:pic>
      <p:pic>
        <p:nvPicPr>
          <p:cNvPr id="14" name="Picture 13" descr="A close-up of a math equation&#10;&#10;Description automatically generated">
            <a:extLst>
              <a:ext uri="{FF2B5EF4-FFF2-40B4-BE49-F238E27FC236}">
                <a16:creationId xmlns:a16="http://schemas.microsoft.com/office/drawing/2014/main" id="{337F7B68-E95E-23BB-EA6B-65D9D00B6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790" y="4784767"/>
            <a:ext cx="45212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3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Key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t"/>
            <a:r>
              <a:rPr lang="en-IN" sz="1500" b="1" i="0" dirty="0">
                <a:effectLst/>
              </a:rPr>
              <a:t>Class Decorrelation (CD)</a:t>
            </a:r>
          </a:p>
          <a:p>
            <a:pPr algn="l" fontAlgn="t"/>
            <a:endParaRPr lang="en-IN" sz="1400" b="0" i="0" dirty="0">
              <a:effectLst/>
            </a:endParaRPr>
          </a:p>
          <a:p>
            <a:pPr algn="l" fontAlgn="t"/>
            <a:r>
              <a:rPr lang="en-IN" sz="1400" b="0" i="0" dirty="0">
                <a:effectLst/>
              </a:rPr>
              <a:t>Enforces orthogonality among class‑specific proposal features to enlarge separation.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  </a:t>
            </a:r>
            <a:r>
              <a:rPr lang="en-IN" sz="1400" b="0" i="0" dirty="0" err="1">
                <a:effectLst/>
              </a:rPr>
              <a:t>Softmax</a:t>
            </a:r>
            <a:r>
              <a:rPr lang="en-IN" sz="1400" b="0" i="0" dirty="0">
                <a:effectLst/>
              </a:rPr>
              <a:t> correlation matrix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Class decorrelation loss 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Effect: Pushes clusters apart → improved known‑class separation → easier unknown rejection.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algn="l" fontAlgn="t"/>
            <a:endParaRPr lang="en-IN" sz="1400" b="0" i="0" dirty="0">
              <a:effectLst/>
            </a:endParaRPr>
          </a:p>
        </p:txBody>
      </p:sp>
      <p:pic>
        <p:nvPicPr>
          <p:cNvPr id="18" name="Picture 17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EC822E28-036E-442C-018E-553F03CD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2990850"/>
            <a:ext cx="3162300" cy="876300"/>
          </a:xfrm>
          <a:prstGeom prst="rect">
            <a:avLst/>
          </a:prstGeom>
        </p:spPr>
      </p:pic>
      <p:pic>
        <p:nvPicPr>
          <p:cNvPr id="22" name="Picture 21" descr="A black and white math symbol&#10;&#10;Description automatically generated with medium confidence">
            <a:extLst>
              <a:ext uri="{FF2B5EF4-FFF2-40B4-BE49-F238E27FC236}">
                <a16:creationId xmlns:a16="http://schemas.microsoft.com/office/drawing/2014/main" id="{017D3A78-FCD1-132D-E0A9-C246DB2ED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490" y="4589880"/>
            <a:ext cx="39878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58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Key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t"/>
            <a:r>
              <a:rPr lang="en-IN" sz="1500" b="1" i="0" dirty="0">
                <a:effectLst/>
              </a:rPr>
              <a:t>Object Focus (OF) Loss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Enhances unknown proposal quality by combining geometric </a:t>
            </a:r>
            <a:r>
              <a:rPr lang="en-IN" sz="1400" b="0" i="0" dirty="0" err="1">
                <a:effectLst/>
              </a:rPr>
              <a:t>centerness</a:t>
            </a:r>
            <a:r>
              <a:rPr lang="en-IN" sz="1400" b="0" i="0" dirty="0">
                <a:effectLst/>
              </a:rPr>
              <a:t> and RPN </a:t>
            </a:r>
            <a:r>
              <a:rPr lang="en-IN" sz="1400" b="0" i="0" dirty="0" err="1">
                <a:effectLst/>
              </a:rPr>
              <a:t>objectness</a:t>
            </a:r>
            <a:r>
              <a:rPr lang="en-IN" sz="1400" b="0" i="0" dirty="0">
                <a:effectLst/>
              </a:rPr>
              <a:t>.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dirty="0" err="1"/>
              <a:t>Centerness</a:t>
            </a:r>
            <a:r>
              <a:rPr lang="en-IN" sz="1400" dirty="0"/>
              <a:t> Loss &amp; Final Loss: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r>
              <a:rPr lang="en-IN" sz="1400" dirty="0"/>
              <a:t>Paper ablation: geometric mean &gt; addition &gt; multiplication.</a:t>
            </a: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algn="l" fontAlgn="t"/>
            <a:endParaRPr lang="en-IN" sz="1400" dirty="0"/>
          </a:p>
          <a:p>
            <a:pPr algn="l" fontAlgn="t"/>
            <a:r>
              <a:rPr lang="en-IN" sz="1500" b="1" i="0" dirty="0">
                <a:effectLst/>
              </a:rPr>
              <a:t>Total Training Loss</a:t>
            </a:r>
          </a:p>
          <a:p>
            <a:pPr algn="l" fontAlgn="t"/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algn="l" fontAlgn="t"/>
            <a:endParaRPr lang="en-IN" sz="1400" b="0" i="0" dirty="0">
              <a:effectLst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56ECA55-353C-EBCF-8528-D66CF86D5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203" y="2941053"/>
            <a:ext cx="3086100" cy="647700"/>
          </a:xfrm>
          <a:prstGeom prst="rect">
            <a:avLst/>
          </a:prstGeom>
        </p:spPr>
      </p:pic>
      <p:pic>
        <p:nvPicPr>
          <p:cNvPr id="8" name="Picture 7" descr="A black and white math symbol&#10;&#10;Description automatically generated">
            <a:extLst>
              <a:ext uri="{FF2B5EF4-FFF2-40B4-BE49-F238E27FC236}">
                <a16:creationId xmlns:a16="http://schemas.microsoft.com/office/drawing/2014/main" id="{6425FB14-AF90-4F77-C8C8-2D3F52C3C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25" y="3004553"/>
            <a:ext cx="2730500" cy="520700"/>
          </a:xfrm>
          <a:prstGeom prst="rect">
            <a:avLst/>
          </a:prstGeom>
        </p:spPr>
      </p:pic>
      <p:pic>
        <p:nvPicPr>
          <p:cNvPr id="10" name="Picture 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85420F9-F819-312B-7B38-66E9FC34E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475" y="3772562"/>
            <a:ext cx="5158697" cy="293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9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457344"/>
            <a:ext cx="9144000" cy="522329"/>
          </a:xfrm>
        </p:spPr>
        <p:txBody>
          <a:bodyPr>
            <a:normAutofit fontScale="90000"/>
          </a:bodyPr>
          <a:lstStyle/>
          <a:p>
            <a:pPr algn="l"/>
            <a:br>
              <a:rPr lang="en-IN" sz="1100" b="1" i="0" dirty="0">
                <a:effectLst/>
                <a:latin typeface="Segoe UI" panose="020B0502040204020203" pitchFamily="34" charset="0"/>
              </a:rPr>
            </a:br>
            <a:r>
              <a:rPr lang="en-IN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Evaluation Protocol &amp; Metrics</a:t>
            </a:r>
            <a:endParaRPr lang="en-US" sz="4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t"/>
            <a:endParaRPr lang="en-IN" sz="1400" b="0" i="0" dirty="0">
              <a:effectLst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904CB7F-C4CD-8512-A69F-D32F203E5CDD}"/>
              </a:ext>
            </a:extLst>
          </p:cNvPr>
          <p:cNvSpPr txBox="1">
            <a:spLocks/>
          </p:cNvSpPr>
          <p:nvPr/>
        </p:nvSpPr>
        <p:spPr>
          <a:xfrm>
            <a:off x="466381" y="13550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t">
              <a:buFont typeface="Arial" panose="020B0604020202020204" pitchFamily="34" charset="0"/>
              <a:buChar char="•"/>
            </a:pPr>
            <a:r>
              <a:rPr lang="en-IN" sz="1500" b="0" i="0" dirty="0">
                <a:effectLst/>
              </a:rPr>
              <a:t>Datasets</a:t>
            </a:r>
            <a:r>
              <a:rPr lang="en-IN" sz="1400" b="0" i="0" dirty="0">
                <a:effectLst/>
              </a:rPr>
              <a:t>: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 </a:t>
            </a:r>
            <a:r>
              <a:rPr lang="en-IN" sz="1400" b="1" i="0" dirty="0">
                <a:effectLst/>
              </a:rPr>
              <a:t>VOC–COCO T1/T2</a:t>
            </a:r>
            <a:r>
              <a:rPr lang="en-IN" sz="1400" b="0" i="0" dirty="0">
                <a:effectLst/>
              </a:rPr>
              <a:t> </a:t>
            </a:r>
          </a:p>
          <a:p>
            <a:pPr lvl="2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T1 → increase #unknown classes</a:t>
            </a:r>
          </a:p>
          <a:p>
            <a:pPr lvl="2" algn="l" fontAlgn="t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</a:rPr>
              <a:t>T2 → increase wilderness ratio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IN" sz="1500" b="0" i="0" dirty="0">
                <a:effectLst/>
              </a:rPr>
              <a:t>Entropy threshold = </a:t>
            </a:r>
            <a:r>
              <a:rPr lang="en-IN" sz="1500" b="1" i="0" dirty="0">
                <a:effectLst/>
              </a:rPr>
              <a:t>0.85</a:t>
            </a:r>
            <a:r>
              <a:rPr lang="en-IN" sz="1500" b="0" i="0" dirty="0">
                <a:effectLst/>
              </a:rPr>
              <a:t> for unknown prediction 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IN" sz="1500" b="0" i="0" dirty="0">
                <a:effectLst/>
              </a:rPr>
              <a:t>Metrics: 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1" i="0" dirty="0" err="1">
                <a:effectLst/>
              </a:rPr>
              <a:t>mAP</a:t>
            </a:r>
            <a:r>
              <a:rPr lang="en-IN" sz="1400" b="1" i="0" dirty="0">
                <a:effectLst/>
              </a:rPr>
              <a:t>ₖ</a:t>
            </a:r>
            <a:r>
              <a:rPr lang="en-IN" sz="1400" b="0" i="0" dirty="0">
                <a:effectLst/>
              </a:rPr>
              <a:t> (known)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1" i="0" dirty="0">
                <a:effectLst/>
              </a:rPr>
              <a:t>APᵤ</a:t>
            </a:r>
            <a:r>
              <a:rPr lang="en-IN" sz="1400" b="0" i="0" dirty="0">
                <a:effectLst/>
              </a:rPr>
              <a:t> (unknown)	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1" i="0" dirty="0">
                <a:effectLst/>
              </a:rPr>
              <a:t>WI</a:t>
            </a:r>
            <a:r>
              <a:rPr lang="en-IN" sz="1400" b="0" i="0" dirty="0">
                <a:effectLst/>
              </a:rPr>
              <a:t> (Wilderness Impact)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1" i="0" dirty="0">
                <a:effectLst/>
              </a:rPr>
              <a:t>AOSE</a:t>
            </a:r>
            <a:r>
              <a:rPr lang="en-IN" sz="1400" b="0" i="0" dirty="0">
                <a:effectLst/>
              </a:rPr>
              <a:t> (Absolute Open‑Set Error)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r>
              <a:rPr lang="en-IN" sz="1400" b="1" i="0" dirty="0">
                <a:effectLst/>
              </a:rPr>
              <a:t>HMP</a:t>
            </a:r>
            <a:r>
              <a:rPr lang="en-IN" sz="1400" b="0" i="0" dirty="0">
                <a:effectLst/>
              </a:rPr>
              <a:t> (Eq. 10) — harmonic mean of known + unknown performance</a:t>
            </a:r>
          </a:p>
          <a:p>
            <a:pPr lvl="1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285750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algn="l" fontAlgn="t"/>
            <a:endParaRPr lang="en-IN" sz="1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944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Current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Code: Faster R-CNN + Object Focus RPN;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semantic alignment and decorrelation losses wired;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CLIP prompts (VOC+COCO).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Data: VOC/COCO in place;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placeholder T1/T2 splits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Checkpoint: 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Stub run </a:t>
            </a:r>
            <a:r>
              <a:rPr lang="en-IN" sz="1400" b="0" i="0" dirty="0">
                <a:solidFill>
                  <a:srgbClr val="006AB1"/>
                </a:solidFill>
                <a:effectLst/>
              </a:rPr>
              <a:t>checkpoints/</a:t>
            </a:r>
            <a:r>
              <a:rPr lang="en-IN" sz="1400" b="0" i="0" dirty="0" err="1">
                <a:solidFill>
                  <a:srgbClr val="006AB1"/>
                </a:solidFill>
                <a:effectLst/>
              </a:rPr>
              <a:t>latest.pth</a:t>
            </a:r>
            <a:r>
              <a:rPr lang="en-IN" sz="1400" b="0" i="0" dirty="0">
                <a:solidFill>
                  <a:srgbClr val="000000"/>
                </a:solidFill>
                <a:effectLst/>
              </a:rPr>
              <a:t> (PK ~1.0 on stub; PU/HMP placeholder until unknown GT).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Eval: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PK uses GT;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PU/HMP will be accurate once unknown annotations are available.</a:t>
            </a:r>
          </a:p>
          <a:p>
            <a:pPr lvl="1" algn="l">
              <a:buFont typeface="Arial" panose="020B0604020202020204" pitchFamily="34" charset="0"/>
              <a:buChar char="•"/>
            </a:pPr>
            <a:endParaRPr lang="en-IN" sz="1400" b="0" i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</a:rPr>
              <a:t>Next: add official splits, unknown GT for PU/HMP, set paper </a:t>
            </a:r>
            <a:r>
              <a:rPr lang="en-IN" sz="1400" b="0" i="0" dirty="0" err="1">
                <a:solidFill>
                  <a:srgbClr val="000000"/>
                </a:solidFill>
                <a:effectLst/>
              </a:rPr>
              <a:t>hyperparams</a:t>
            </a:r>
            <a:r>
              <a:rPr lang="en-IN" sz="1400" b="0" i="0" dirty="0">
                <a:solidFill>
                  <a:srgbClr val="000000"/>
                </a:solidFill>
                <a:effectLst/>
              </a:rPr>
              <a:t> in </a:t>
            </a:r>
            <a:r>
              <a:rPr lang="en-IN" sz="1400" b="0" i="0" dirty="0" err="1">
                <a:solidFill>
                  <a:srgbClr val="006AB1"/>
                </a:solidFill>
                <a:effectLst/>
              </a:rPr>
              <a:t>config.py</a:t>
            </a:r>
            <a:r>
              <a:rPr lang="en-IN" sz="1400" b="0" i="0" dirty="0">
                <a:solidFill>
                  <a:srgbClr val="000000"/>
                </a:solidFill>
                <a:effectLst/>
              </a:rPr>
              <a:t>, then full GPU training.</a:t>
            </a:r>
          </a:p>
          <a:p>
            <a:pPr algn="l" fontAlgn="t"/>
            <a:endParaRPr lang="en-IN" sz="1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691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Structure – </a:t>
            </a:r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  <a:hlinkClick r:id="rId3"/>
              </a:rPr>
              <a:t>Git Link</a:t>
            </a:r>
            <a:endParaRPr lang="en-US" sz="4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t"/>
            <a:endParaRPr lang="en-IN" sz="1400" b="0" i="0" dirty="0">
              <a:effectLst/>
            </a:endParaRPr>
          </a:p>
        </p:txBody>
      </p:sp>
      <p:pic>
        <p:nvPicPr>
          <p:cNvPr id="6" name="Picture 5" descr="A computer code with text&#10;&#10;Description automatically generated">
            <a:extLst>
              <a:ext uri="{FF2B5EF4-FFF2-40B4-BE49-F238E27FC236}">
                <a16:creationId xmlns:a16="http://schemas.microsoft.com/office/drawing/2014/main" id="{E3B632F0-D7C2-0EDB-EDB7-D43B917C0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79" y="1235243"/>
            <a:ext cx="7772400" cy="480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2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Current issues and blockers</a:t>
            </a:r>
            <a:endParaRPr lang="en-US" sz="4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</a:rPr>
              <a:t>Official T1/T2 splits not available: using placeholder split files; need the paper’s VOC–COCO train/</a:t>
            </a:r>
            <a:r>
              <a:rPr lang="en-IN" sz="1600" b="0" i="0" dirty="0" err="1">
                <a:solidFill>
                  <a:srgbClr val="000000"/>
                </a:solidFill>
                <a:effectLst/>
              </a:rPr>
              <a:t>val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 lists to match reported results.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</a:rPr>
              <a:t>Unknown GT missing: PU/HMP remain placeholder</a:t>
            </a:r>
            <a:endParaRPr lang="en-IN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</a:rPr>
              <a:t>T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o compute open-set metrics correctly.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</a:rPr>
              <a:t>Hyperparameters not paper-aligned: loss weights/temperature and optimizer schedule in </a:t>
            </a:r>
            <a:r>
              <a:rPr lang="en-IN" sz="1600" b="0" i="0" dirty="0" err="1">
                <a:solidFill>
                  <a:srgbClr val="000000"/>
                </a:solidFill>
                <a:effectLst/>
              </a:rPr>
              <a:t>config.py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 need to be set to the paper’s values before full training.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</a:rPr>
              <a:t>Compute for full training: full paper-scale runs require GPU; current runs are stub/CPU-light only.</a:t>
            </a:r>
          </a:p>
        </p:txBody>
      </p:sp>
    </p:spTree>
    <p:extLst>
      <p:ext uri="{BB962C8B-B14F-4D97-AF65-F5344CB8AC3E}">
        <p14:creationId xmlns:p14="http://schemas.microsoft.com/office/powerpoint/2010/main" val="1990734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C3CBE-4D5A-AE44-7412-8F3F8B688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381" y="366713"/>
            <a:ext cx="9144000" cy="716130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Next Steps and Future Scope</a:t>
            </a:r>
            <a:endParaRPr lang="en-US" sz="4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1355074"/>
            <a:ext cx="10201619" cy="5348938"/>
          </a:xfrm>
        </p:spPr>
        <p:txBody>
          <a:bodyPr>
            <a:normAutofit/>
          </a:bodyPr>
          <a:lstStyle/>
          <a:p>
            <a:pPr marL="1200150" lvl="2" indent="-285750" algn="l" fontAlgn="t">
              <a:buFont typeface="Arial" panose="020B0604020202020204" pitchFamily="34" charset="0"/>
              <a:buChar char="•"/>
            </a:pPr>
            <a:endParaRPr lang="en-IN" sz="1400" b="0" i="0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6713AF-17FE-E25E-6418-E5AA935DFAC7}"/>
              </a:ext>
            </a:extLst>
          </p:cNvPr>
          <p:cNvSpPr txBox="1">
            <a:spLocks/>
          </p:cNvSpPr>
          <p:nvPr/>
        </p:nvSpPr>
        <p:spPr>
          <a:xfrm>
            <a:off x="618781" y="1507474"/>
            <a:ext cx="10049219" cy="482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500" b="1" dirty="0">
                <a:effectLst/>
              </a:rPr>
              <a:t>Next Steps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Replace placeholder T1/T2 split </a:t>
            </a:r>
            <a:r>
              <a:rPr lang="en-IN" sz="1400" dirty="0" err="1">
                <a:effectLst/>
              </a:rPr>
              <a:t>txts</a:t>
            </a:r>
            <a:r>
              <a:rPr lang="en-IN" sz="1400" dirty="0">
                <a:effectLst/>
              </a:rPr>
              <a:t> with the official VOC–COCO splits.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Add unknown annotations (e.g., </a:t>
            </a:r>
            <a:r>
              <a:rPr lang="en-IN" sz="1400" dirty="0" err="1">
                <a:effectLst/>
              </a:rPr>
              <a:t>unknown_boxes</a:t>
            </a:r>
            <a:r>
              <a:rPr lang="en-IN" sz="1400" dirty="0">
                <a:effectLst/>
              </a:rPr>
              <a:t>) so PU/HMP are computed correctly.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Set paper hyperparameters (loss weights, temperature, optimizer/schedule) in </a:t>
            </a:r>
            <a:r>
              <a:rPr lang="en-IN" sz="1400" dirty="0" err="1">
                <a:effectLst/>
              </a:rPr>
              <a:t>src</a:t>
            </a:r>
            <a:r>
              <a:rPr lang="en-IN" sz="1400" dirty="0">
                <a:effectLst/>
              </a:rPr>
              <a:t>/</a:t>
            </a:r>
            <a:r>
              <a:rPr lang="en-IN" sz="1400" dirty="0" err="1">
                <a:effectLst/>
              </a:rPr>
              <a:t>config.py</a:t>
            </a:r>
            <a:r>
              <a:rPr lang="en-IN" sz="1400" dirty="0">
                <a:effectLst/>
              </a:rPr>
              <a:t>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Run full training/eval on GPU; save best checkpoints.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500" b="1" dirty="0">
                <a:effectLst/>
              </a:rPr>
              <a:t>Future Scope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Expand to other backbones or newer detectors for OSOD.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Improve unknown scoring (beyond entropy) and calibration.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Automate reporting/visualization (metrics dashboards, batch demo generation).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Explore additional open-set tasks (incremental detection, domain shifts) using the same framework.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379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21FA39E-59B7-D0DA-A0C7-8B73B73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41" y="153988"/>
            <a:ext cx="1828800" cy="1752600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E58FE4E-99FA-2331-07FD-CDFC3C336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81" y="2737023"/>
            <a:ext cx="10201619" cy="221439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830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959</Words>
  <Application>Microsoft Macintosh PowerPoint</Application>
  <PresentationFormat>Widescreen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Segoe UI</vt:lpstr>
      <vt:lpstr>Office Theme</vt:lpstr>
      <vt:lpstr>Vision Guided AI System</vt:lpstr>
      <vt:lpstr>Objective/Vision</vt:lpstr>
      <vt:lpstr> Base Paper - Sarkar et al. (2024) — Open-Set Object Detection</vt:lpstr>
      <vt:lpstr> Base Paper - Sarkar et al. (2024) — Open-Set Object Detection</vt:lpstr>
      <vt:lpstr>Paper Contributions</vt:lpstr>
      <vt:lpstr>Paper Contributions</vt:lpstr>
      <vt:lpstr>Architecture Overview</vt:lpstr>
      <vt:lpstr>Key Equations</vt:lpstr>
      <vt:lpstr>Key Equations</vt:lpstr>
      <vt:lpstr>Key Equations</vt:lpstr>
      <vt:lpstr> Evaluation Protocol &amp; Metrics</vt:lpstr>
      <vt:lpstr>Current Status</vt:lpstr>
      <vt:lpstr>Project Structure – Git Link</vt:lpstr>
      <vt:lpstr>Current issues and blockers</vt:lpstr>
      <vt:lpstr>Next Steps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guided AI System</dc:title>
  <dc:creator>Shivani Nagpal</dc:creator>
  <cp:lastModifiedBy>Sharma, Amit (MTA)</cp:lastModifiedBy>
  <cp:revision>24</cp:revision>
  <dcterms:created xsi:type="dcterms:W3CDTF">2025-11-08T07:40:19Z</dcterms:created>
  <dcterms:modified xsi:type="dcterms:W3CDTF">2026-02-08T13:31:43Z</dcterms:modified>
</cp:coreProperties>
</file>